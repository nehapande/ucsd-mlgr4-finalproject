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71" r:id="rId8"/>
    <p:sldId id="274" r:id="rId9"/>
    <p:sldId id="275" r:id="rId10"/>
    <p:sldId id="272" r:id="rId11"/>
    <p:sldId id="261" r:id="rId12"/>
    <p:sldId id="262" r:id="rId13"/>
    <p:sldId id="263" r:id="rId14"/>
    <p:sldId id="264" r:id="rId15"/>
    <p:sldId id="265" r:id="rId16"/>
    <p:sldId id="270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1280" y="4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174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58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575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939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6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190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338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031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556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473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6894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507138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028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4294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9753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3840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35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0456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1838178"/>
          </a:xfrm>
        </p:spPr>
        <p:txBody>
          <a:bodyPr>
            <a:normAutofit/>
          </a:bodyPr>
          <a:lstStyle/>
          <a:p>
            <a:r>
              <a:rPr dirty="0"/>
              <a:t>Obesity Prediction using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body" sz="half" idx="2"/>
          </p:nvPr>
        </p:nvSpPr>
        <p:spPr>
          <a:xfrm>
            <a:off x="913794" y="2695576"/>
            <a:ext cx="5934950" cy="2818960"/>
          </a:xfrm>
        </p:spPr>
        <p:txBody>
          <a:bodyPr>
            <a:normAutofit/>
          </a:bodyPr>
          <a:lstStyle/>
          <a:p>
            <a:r>
              <a:rPr dirty="0"/>
              <a:t>Leveraging lifestyle data to estimate obesity levels and support public health initiatives.</a:t>
            </a:r>
            <a:endParaRPr lang="en-US" dirty="0"/>
          </a:p>
          <a:p>
            <a:endParaRPr lang="en-US" dirty="0"/>
          </a:p>
          <a:p>
            <a:r>
              <a:rPr lang="en-US" dirty="0"/>
              <a:t>AAI 510 IN2 Module 7</a:t>
            </a:r>
          </a:p>
          <a:p>
            <a:r>
              <a:rPr lang="en-US" dirty="0"/>
              <a:t>Team 4</a:t>
            </a:r>
          </a:p>
          <a:p>
            <a:r>
              <a:rPr lang="en-US" dirty="0"/>
              <a:t>Neha Pandey, </a:t>
            </a:r>
            <a:r>
              <a:rPr lang="en-US" dirty="0" err="1"/>
              <a:t>Aksdeep</a:t>
            </a:r>
            <a:r>
              <a:rPr lang="en-US" dirty="0"/>
              <a:t> Singh, Sanjay Kumar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BB09D9-B2F2-8C75-7E4A-7F04C592A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8BE6C6B-8C1A-EBE2-9D76-EABE9AA18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229" y="1528689"/>
            <a:ext cx="3286125" cy="17811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3517336"/>
          </a:xfrm>
        </p:spPr>
        <p:txBody>
          <a:bodyPr/>
          <a:lstStyle/>
          <a:p>
            <a:r>
              <a:t>Obesity is a global concern linked to chronic diseases.</a:t>
            </a:r>
          </a:p>
          <a:p>
            <a:r>
              <a:t>This study uses real and synthetic data to predict obesity levels.</a:t>
            </a:r>
          </a:p>
          <a:p>
            <a:r>
              <a:t>Goal: identify key factors and build accurate models.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5BB0D0-6C86-FB46-26E0-27F28B9301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829033-040D-5C7B-9AAB-42E47066A6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5932" y="1804107"/>
            <a:ext cx="3189031" cy="23880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Obesity influenced by genetics, environment, behavior.</a:t>
            </a:r>
          </a:p>
          <a:p>
            <a:r>
              <a:t>Challenge: predict obesity using lifestyle data.</a:t>
            </a:r>
          </a:p>
          <a:p>
            <a:r>
              <a:t>Dataset: mix of real and synthetic data from Kaggle.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0F49FC-CFFF-B85E-31DC-E1D024368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25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5936FD-2CFF-65ED-A463-61BE0888A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7908" y="1742906"/>
            <a:ext cx="3920164" cy="32833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1. Develop Predictive Models</a:t>
            </a:r>
          </a:p>
          <a:p>
            <a:r>
              <a:rPr dirty="0"/>
              <a:t>2. Identify Key Predictors</a:t>
            </a:r>
          </a:p>
          <a:p>
            <a:r>
              <a:rPr dirty="0"/>
              <a:t>3. Enhance Public Health Strategies</a:t>
            </a:r>
          </a:p>
          <a:p>
            <a:r>
              <a:rPr dirty="0"/>
              <a:t>4. Validate Model Robustness</a:t>
            </a:r>
          </a:p>
          <a:p>
            <a:r>
              <a:rPr dirty="0"/>
              <a:t>5. Contribute to Personalized Healthcare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FCC9AE-DF8D-7A1B-08F2-0FB6A7469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E4166FF-8D62-865B-C3FE-7D2D32E439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235" y="1838325"/>
            <a:ext cx="3982438" cy="2818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Methodology: Data Exploration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Dataset includes Height, Weight, Gender, lifestyle factors.</a:t>
            </a:r>
            <a:endParaRPr lang="en-US" dirty="0"/>
          </a:p>
          <a:p>
            <a:r>
              <a:rPr lang="en-US" dirty="0"/>
              <a:t>Add BMI as engineered feature</a:t>
            </a:r>
            <a:endParaRPr dirty="0"/>
          </a:p>
          <a:p>
            <a:r>
              <a:rPr dirty="0"/>
              <a:t>Target: 7 obesity levels.</a:t>
            </a:r>
          </a:p>
          <a:p>
            <a:r>
              <a:rPr dirty="0"/>
              <a:t>Balanced class distribution with synthetic data handling.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1B8855-7167-F468-3D3E-5469C9482A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81BFA8-63EC-065C-9C34-FD038487BA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607" y="1720584"/>
            <a:ext cx="3181490" cy="28260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17899-BF54-2C6C-FFD4-1381F21C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B224F-A862-2E81-B3A6-0C658AC5B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935921"/>
            <a:ext cx="10353762" cy="4512380"/>
          </a:xfrm>
        </p:spPr>
        <p:txBody>
          <a:bodyPr>
            <a:normAutofit fontScale="70000" lnSpcReduction="20000"/>
          </a:bodyPr>
          <a:lstStyle/>
          <a:p>
            <a:r>
              <a:rPr lang="en-US" sz="2500" dirty="0"/>
              <a:t>To uncover patterns, trends, and anomalies that inform model building and feature engineering.</a:t>
            </a:r>
          </a:p>
          <a:p>
            <a:pPr marL="0" indent="0">
              <a:buNone/>
            </a:pPr>
            <a:r>
              <a:rPr lang="en-US" sz="2500" b="1" dirty="0"/>
              <a:t>Dataset Summary</a:t>
            </a:r>
            <a:endParaRPr lang="en-US" sz="2500" dirty="0"/>
          </a:p>
          <a:p>
            <a:r>
              <a:rPr lang="en-US" b="1" dirty="0"/>
              <a:t>Rows</a:t>
            </a:r>
            <a:r>
              <a:rPr lang="en-US" dirty="0"/>
              <a:t>: 2117,17</a:t>
            </a:r>
          </a:p>
          <a:p>
            <a:r>
              <a:rPr lang="en-US" b="1" dirty="0"/>
              <a:t>Features</a:t>
            </a:r>
            <a:r>
              <a:rPr lang="en-US" dirty="0"/>
              <a:t>: Demographics, health metrics, lifestyle habits</a:t>
            </a:r>
          </a:p>
          <a:p>
            <a:r>
              <a:rPr lang="en-US" b="1" dirty="0"/>
              <a:t>Target</a:t>
            </a:r>
            <a:r>
              <a:rPr lang="en-US" dirty="0"/>
              <a:t>: Obesity Level (categorical)</a:t>
            </a:r>
          </a:p>
          <a:p>
            <a:pPr marL="0" indent="0">
              <a:buNone/>
            </a:pPr>
            <a:r>
              <a:rPr lang="en-US" b="1" dirty="0"/>
              <a:t>Variable Types</a:t>
            </a:r>
            <a:endParaRPr lang="en-US" dirty="0"/>
          </a:p>
          <a:p>
            <a:r>
              <a:rPr lang="en-US" b="1" dirty="0"/>
              <a:t>Numerical</a:t>
            </a:r>
            <a:r>
              <a:rPr lang="en-US" dirty="0"/>
              <a:t>: Age, Weight, Height, Calories, BMI</a:t>
            </a:r>
          </a:p>
          <a:p>
            <a:r>
              <a:rPr lang="en-US" b="1" dirty="0"/>
              <a:t>Categorical</a:t>
            </a:r>
            <a:r>
              <a:rPr lang="en-US" dirty="0"/>
              <a:t>: Gender, Activity Level, Obesity Class</a:t>
            </a:r>
          </a:p>
          <a:p>
            <a:pPr marL="0" indent="0">
              <a:buNone/>
            </a:pPr>
            <a:r>
              <a:rPr lang="en-US" b="1" dirty="0"/>
              <a:t>Data Quality Checks</a:t>
            </a:r>
            <a:endParaRPr lang="en-US" dirty="0"/>
          </a:p>
          <a:p>
            <a:r>
              <a:rPr lang="en-US" dirty="0"/>
              <a:t>No major missing values</a:t>
            </a:r>
          </a:p>
          <a:p>
            <a:r>
              <a:rPr lang="en-US" dirty="0"/>
              <a:t>Outliers in calorie intake and BMI</a:t>
            </a:r>
          </a:p>
          <a:p>
            <a:r>
              <a:rPr lang="en-US" dirty="0"/>
              <a:t>Balanced class distribution?</a:t>
            </a:r>
          </a:p>
        </p:txBody>
      </p:sp>
    </p:spTree>
    <p:extLst>
      <p:ext uri="{BB962C8B-B14F-4D97-AF65-F5344CB8AC3E}">
        <p14:creationId xmlns:p14="http://schemas.microsoft.com/office/powerpoint/2010/main" val="3406135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C8AE9-23FC-73C7-D38C-8D027874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403639"/>
            <a:ext cx="10353761" cy="1326321"/>
          </a:xfrm>
        </p:spPr>
        <p:txBody>
          <a:bodyPr/>
          <a:lstStyle/>
          <a:p>
            <a:r>
              <a:rPr lang="en-US"/>
              <a:t>Key Findings from EDA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ED6C0-14AB-273D-84A4-A8D88F3098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5040" y="1432904"/>
            <a:ext cx="10483163" cy="493226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b="1" dirty="0"/>
              <a:t>Feature Distributions</a:t>
            </a:r>
            <a:endParaRPr lang="en-US" sz="1400" dirty="0"/>
          </a:p>
          <a:p>
            <a:r>
              <a:rPr lang="en-US" sz="1400" dirty="0"/>
              <a:t>BMI and Weight are right-skewed</a:t>
            </a:r>
          </a:p>
          <a:p>
            <a:r>
              <a:rPr lang="en-US" sz="1400" dirty="0"/>
              <a:t>Calorie intake shows wide variance</a:t>
            </a:r>
          </a:p>
          <a:p>
            <a:r>
              <a:rPr lang="en-US" sz="1400" dirty="0"/>
              <a:t>Age mostly concentrated in young adult</a:t>
            </a:r>
            <a:r>
              <a:rPr lang="en-US" sz="1050" dirty="0"/>
              <a:t>s</a:t>
            </a:r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400" dirty="0"/>
              <a:t> </a:t>
            </a:r>
            <a:r>
              <a:rPr lang="en-US" sz="1400" b="1" dirty="0"/>
              <a:t>Feature Relationships with Obesity</a:t>
            </a:r>
            <a:endParaRPr lang="en-US" sz="1400" dirty="0"/>
          </a:p>
          <a:p>
            <a:r>
              <a:rPr lang="en-US" sz="1400" b="1" dirty="0"/>
              <a:t>BMI</a:t>
            </a:r>
            <a:r>
              <a:rPr lang="en-US" sz="1400" dirty="0"/>
              <a:t>: Strong positive correlation with obesity</a:t>
            </a:r>
          </a:p>
          <a:p>
            <a:r>
              <a:rPr lang="en-US" sz="1400" b="1" dirty="0"/>
              <a:t>Physical Activity</a:t>
            </a:r>
            <a:r>
              <a:rPr lang="en-US" sz="1400" dirty="0"/>
              <a:t>: Inversely related</a:t>
            </a:r>
          </a:p>
          <a:p>
            <a:r>
              <a:rPr lang="en-US" sz="1400" b="1" dirty="0"/>
              <a:t>Fast Food &amp; Screen Time</a:t>
            </a:r>
            <a:r>
              <a:rPr lang="en-US" sz="1400" dirty="0"/>
              <a:t>: Mixed signals; possible nonlinear pattern</a:t>
            </a:r>
          </a:p>
          <a:p>
            <a:pPr marL="0" indent="0">
              <a:buNone/>
            </a:pPr>
            <a:endParaRPr lang="en-US" sz="1050" b="1" dirty="0"/>
          </a:p>
          <a:p>
            <a:pPr marL="0" indent="0">
              <a:buNone/>
            </a:pPr>
            <a:r>
              <a:rPr lang="en-US" sz="1400" b="1" dirty="0"/>
              <a:t>Correlation Insights</a:t>
            </a:r>
            <a:endParaRPr lang="en-US" sz="1400" dirty="0"/>
          </a:p>
          <a:p>
            <a:r>
              <a:rPr lang="en-US" sz="1400" dirty="0"/>
              <a:t>Strong correlation: Weight ↔ BMI ↔ Obesity</a:t>
            </a:r>
          </a:p>
          <a:p>
            <a:r>
              <a:rPr lang="en-US" sz="1400" dirty="0"/>
              <a:t>Low correlation: Sleep time, screen time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03A96FC-E325-D5B5-25DF-CB1917B502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9224" y="1432904"/>
            <a:ext cx="6834187" cy="4390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29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3727-DA35-D0A7-E17A-8A33E87FF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 selected </a:t>
            </a: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5683944-1FA2-0601-BE53-E6E95553C7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6017648"/>
              </p:ext>
            </p:extLst>
          </p:nvPr>
        </p:nvGraphicFramePr>
        <p:xfrm>
          <a:off x="348022" y="2079627"/>
          <a:ext cx="3891469" cy="379797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161124">
                  <a:extLst>
                    <a:ext uri="{9D8B030D-6E8A-4147-A177-3AD203B41FA5}">
                      <a16:colId xmlns:a16="http://schemas.microsoft.com/office/drawing/2014/main" val="644329816"/>
                    </a:ext>
                  </a:extLst>
                </a:gridCol>
                <a:gridCol w="2730345">
                  <a:extLst>
                    <a:ext uri="{9D8B030D-6E8A-4147-A177-3AD203B41FA5}">
                      <a16:colId xmlns:a16="http://schemas.microsoft.com/office/drawing/2014/main" val="3662246343"/>
                    </a:ext>
                  </a:extLst>
                </a:gridCol>
              </a:tblGrid>
              <a:tr h="243970">
                <a:tc>
                  <a:txBody>
                    <a:bodyPr/>
                    <a:lstStyle/>
                    <a:p>
                      <a:r>
                        <a:rPr lang="en-US" sz="1200" b="1"/>
                        <a:t>Feature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b="1" dirty="0"/>
                        <a:t>Description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4214161489"/>
                  </a:ext>
                </a:extLst>
              </a:tr>
              <a:tr h="243970">
                <a:tc>
                  <a:txBody>
                    <a:bodyPr/>
                    <a:lstStyle/>
                    <a:p>
                      <a:r>
                        <a:rPr lang="en-US" sz="1200" b="1" dirty="0"/>
                        <a:t>Weight</a:t>
                      </a:r>
                      <a:endParaRPr lang="en-US" sz="1200" dirty="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Body Weight (in kilograms)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335215604"/>
                  </a:ext>
                </a:extLst>
              </a:tr>
              <a:tr h="243970">
                <a:tc>
                  <a:txBody>
                    <a:bodyPr/>
                    <a:lstStyle/>
                    <a:p>
                      <a:r>
                        <a:rPr lang="en-US" sz="1200" b="1"/>
                        <a:t>Gender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Biological sex (Male / Female)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576387692"/>
                  </a:ext>
                </a:extLst>
              </a:tr>
              <a:tr h="243970">
                <a:tc>
                  <a:txBody>
                    <a:bodyPr/>
                    <a:lstStyle/>
                    <a:p>
                      <a:r>
                        <a:rPr lang="en-US" sz="1200" b="1"/>
                        <a:t>family_history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Family history of overweight (Yes / No)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739833352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en-US" sz="1200" b="1"/>
                        <a:t>FCVC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Frequency of vegetable consumption (Scale: 1–3)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2051867689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en-US" sz="1200" b="1"/>
                        <a:t>CAEC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Consumption of food between meals (Never / Sometimes / Always)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1591842951"/>
                  </a:ext>
                </a:extLst>
              </a:tr>
              <a:tr h="243970">
                <a:tc>
                  <a:txBody>
                    <a:bodyPr/>
                    <a:lstStyle/>
                    <a:p>
                      <a:r>
                        <a:rPr lang="en-US" sz="1200" b="1"/>
                        <a:t>Age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Age of the individual (in years)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1421425437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en-US" sz="1200" b="1"/>
                        <a:t>FAVC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Frequent consumption of high-calorie food (Yes / No)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3479320196"/>
                  </a:ext>
                </a:extLst>
              </a:tr>
              <a:tr h="243970">
                <a:tc>
                  <a:txBody>
                    <a:bodyPr/>
                    <a:lstStyle/>
                    <a:p>
                      <a:r>
                        <a:rPr lang="en-US" sz="1200" b="1"/>
                        <a:t>Height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Body Height (in meters)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348425572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en-US" sz="1200" b="1"/>
                        <a:t>CALC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Alcohol consumption frequency (Never / Sometimes / Frequently)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3367317269"/>
                  </a:ext>
                </a:extLst>
              </a:tr>
              <a:tr h="426948">
                <a:tc>
                  <a:txBody>
                    <a:bodyPr/>
                    <a:lstStyle/>
                    <a:p>
                      <a:r>
                        <a:rPr lang="en-US" sz="1200" b="1"/>
                        <a:t>MTRANS</a:t>
                      </a:r>
                      <a:endParaRPr lang="en-US" sz="1200"/>
                    </a:p>
                  </a:txBody>
                  <a:tcPr marL="62639" marR="62639" marT="31319" marB="31319"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Mode of transportation (e.g., Walking, Car, Public Transport)</a:t>
                      </a:r>
                    </a:p>
                  </a:txBody>
                  <a:tcPr marL="62639" marR="62639" marT="31319" marB="31319" anchor="ctr"/>
                </a:tc>
                <a:extLst>
                  <a:ext uri="{0D108BD9-81ED-4DB2-BD59-A6C34878D82A}">
                    <a16:rowId xmlns:a16="http://schemas.microsoft.com/office/drawing/2014/main" val="3194472714"/>
                  </a:ext>
                </a:extLst>
              </a:tr>
            </a:tbl>
          </a:graphicData>
        </a:graphic>
      </p:graphicFrame>
      <p:sp>
        <p:nvSpPr>
          <p:cNvPr id="10" name="Rectangle 4">
            <a:extLst>
              <a:ext uri="{FF2B5EF4-FFF2-40B4-BE49-F238E27FC236}">
                <a16:creationId xmlns:a16="http://schemas.microsoft.com/office/drawing/2014/main" id="{0AB027D4-F4C2-6599-A55A-CBF1DB21B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0955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A2C05703-62DD-8F3B-1A90-3D9AF9FAC5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4763" y="21113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9C8090-C3D2-3F4A-DEE5-612ADBE6EB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329" y="2111375"/>
            <a:ext cx="7763561" cy="383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990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D25A-2FE3-4BE0-915D-26E599AF4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 EngIneering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DFF936-678E-68AB-9296-72DEB00F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935921"/>
            <a:ext cx="7327557" cy="3695136"/>
          </a:xfrm>
        </p:spPr>
        <p:txBody>
          <a:bodyPr/>
          <a:lstStyle/>
          <a:p>
            <a:r>
              <a:rPr lang="en-US"/>
              <a:t>Introduced BMI(Weight/Height2) </a:t>
            </a:r>
          </a:p>
          <a:p>
            <a:pPr marL="0" indent="0">
              <a:buNone/>
            </a:pPr>
            <a:r>
              <a:rPr lang="en-US"/>
              <a:t>  </a:t>
            </a:r>
            <a:r>
              <a:rPr lang="en-US" sz="1400"/>
              <a:t>Observed that high BMI has high correlation with Obesity</a:t>
            </a:r>
          </a:p>
          <a:p>
            <a:pPr marL="0" indent="0">
              <a:buNone/>
            </a:pPr>
            <a:endParaRPr lang="en-US" sz="1400"/>
          </a:p>
          <a:p>
            <a:pPr marL="0" indent="0">
              <a:buNone/>
            </a:pPr>
            <a:r>
              <a:rPr lang="en-US" sz="1400"/>
              <a:t>   </a:t>
            </a:r>
            <a:endParaRPr lang="en-US" sz="1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5C85EA-B6A9-2841-DFB8-1EA3B2BB2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405" y="3030790"/>
            <a:ext cx="5652655" cy="36994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C22DAC7-5C74-8620-5E89-9C4CFEE84A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47" y="3030791"/>
            <a:ext cx="4908479" cy="3660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881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BF8D4-A74D-E035-80EF-ECF427ABA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 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BC544-668E-77FE-9669-BC5072A46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158" y="1581432"/>
            <a:ext cx="10353762" cy="3695136"/>
          </a:xfrm>
        </p:spPr>
        <p:txBody>
          <a:bodyPr/>
          <a:lstStyle/>
          <a:p>
            <a:r>
              <a:rPr lang="en-US" dirty="0"/>
              <a:t>High BMI and low activity are strong obesity indicators</a:t>
            </a:r>
          </a:p>
          <a:p>
            <a:r>
              <a:rPr lang="en-US" dirty="0"/>
              <a:t>Feature scaling needed for skewed data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7B9C3A-6903-554C-D44C-781A6CE2D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655" y="3152635"/>
            <a:ext cx="5860407" cy="28889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5BA0E5B-0BA5-15A9-664B-F828229374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5129" y="3152635"/>
            <a:ext cx="5860407" cy="2888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366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Baseline Model: XGBoost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Preprocessing with encoded features.</a:t>
            </a:r>
          </a:p>
          <a:p>
            <a:r>
              <a:t>80-20 split, stratified.</a:t>
            </a:r>
          </a:p>
          <a:p>
            <a:r>
              <a:t>Accuracy ~95.51% with minor misclassifications.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B0A27C-9B0F-7A88-0D5E-4611923D85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60DD01D-B970-C9E2-EE80-D9F4441D67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307" y="2096064"/>
            <a:ext cx="4015472" cy="15357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Tuned XGBoost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Added BMI feature.</a:t>
            </a:r>
          </a:p>
          <a:p>
            <a:r>
              <a:t>Hyperparameter tuning with Grid Search (216 combinations).</a:t>
            </a:r>
          </a:p>
          <a:p>
            <a:r>
              <a:t>Accuracy ~98.58%, high precision/recall across classes.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0F5BDB-DB85-2F59-F545-F880E4B10F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5" name="Picture Placeholder 10">
            <a:extLst>
              <a:ext uri="{FF2B5EF4-FFF2-40B4-BE49-F238E27FC236}">
                <a16:creationId xmlns:a16="http://schemas.microsoft.com/office/drawing/2014/main" id="{D9746540-E592-73D5-D2A6-844B9771A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980" y="1732329"/>
            <a:ext cx="2752677" cy="24739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Forest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200 trees, max depth 10.</a:t>
            </a:r>
          </a:p>
          <a:p>
            <a:r>
              <a:t>Accuracy ~96–97%.</a:t>
            </a:r>
          </a:p>
          <a:p>
            <a:r>
              <a:t>More misclassifications than tuned XGBoost.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DF0EBE-A8AB-0D1A-20B5-C338604C8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EDFF55-3729-B9F8-2552-4E36C5DEC1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7566" y="1748875"/>
            <a:ext cx="3796427" cy="22285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Tuned XGBoost outperforms others.</a:t>
            </a:r>
          </a:p>
          <a:p>
            <a:r>
              <a:t>Confusion matrices show fewer errors.</a:t>
            </a:r>
          </a:p>
          <a:p>
            <a:r>
              <a:t>BMI, Weight, Height most important features.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69EDE-145C-27B5-F2FF-8E9AA44729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E0B0313-BBA2-DC26-37DF-48B071D13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572" y="1935921"/>
            <a:ext cx="4127206" cy="182882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Confusion Matrices</a:t>
            </a:r>
          </a:p>
          <a:p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Feature Importance</a:t>
            </a:r>
          </a:p>
          <a:p>
            <a:r>
              <a:rPr dirty="0"/>
              <a:t>• Accuracy Comparison</a:t>
            </a:r>
          </a:p>
          <a:p>
            <a:r>
              <a:rPr dirty="0"/>
              <a:t>• Classification Heatmaps</a:t>
            </a:r>
          </a:p>
          <a:p>
            <a:r>
              <a:rPr dirty="0"/>
              <a:t>• BMI Distribution</a:t>
            </a:r>
          </a:p>
          <a:p>
            <a:r>
              <a:rPr dirty="0"/>
              <a:t>• PCA/UMAP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18CF6-401E-852F-3F56-18E500714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5FA31DC-03AA-B31A-5011-7A13944899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0452" y="1685925"/>
            <a:ext cx="6029325" cy="34861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1DCA17-8CAA-2959-DC63-E24312B96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B59B3-C335-51B1-16BE-1B2165403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B0F3CC-10DC-8558-57B4-CEA80110D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82018"/>
            <a:ext cx="4530402" cy="3113869"/>
          </a:xfrm>
        </p:spPr>
        <p:txBody>
          <a:bodyPr/>
          <a:lstStyle/>
          <a:p>
            <a:r>
              <a:rPr dirty="0"/>
              <a:t>• Confusion Matrices</a:t>
            </a:r>
          </a:p>
          <a:p>
            <a:r>
              <a:rPr dirty="0"/>
              <a:t>• Feature Importance</a:t>
            </a:r>
          </a:p>
          <a:p>
            <a:r>
              <a:rPr dirty="0"/>
              <a:t>• Accuracy Comparison</a:t>
            </a:r>
          </a:p>
          <a:p>
            <a:r>
              <a:rPr dirty="0"/>
              <a:t>• Classification Heatmaps</a:t>
            </a:r>
          </a:p>
          <a:p>
            <a:r>
              <a:rPr dirty="0"/>
              <a:t>• </a:t>
            </a:r>
            <a:r>
              <a:rPr dirty="0">
                <a:solidFill>
                  <a:srgbClr val="FFC000"/>
                </a:solidFill>
              </a:rPr>
              <a:t>BMI Distribution</a:t>
            </a:r>
            <a:r>
              <a:rPr lang="en-US" dirty="0">
                <a:solidFill>
                  <a:srgbClr val="FFC000"/>
                </a:solidFill>
              </a:rPr>
              <a:t> Box-plot</a:t>
            </a:r>
            <a:endParaRPr dirty="0">
              <a:solidFill>
                <a:srgbClr val="FFC000"/>
              </a:solidFill>
            </a:endParaRPr>
          </a:p>
          <a:p>
            <a:r>
              <a:rPr dirty="0"/>
              <a:t>• PCA/UMAP Plots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A10AE-87B9-2476-00BD-064BF130E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E88414-9FDE-1E69-8871-E4EB0AB509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06781" y="1662112"/>
            <a:ext cx="6296025" cy="3533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9691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Tuned XGBoost ~98.58%</a:t>
            </a:r>
          </a:p>
          <a:p>
            <a:r>
              <a:t>• BMI dominant predictor</a:t>
            </a:r>
          </a:p>
          <a:p>
            <a:r>
              <a:t>• Strong class separability (PCA/UMAP)</a:t>
            </a:r>
          </a:p>
          <a:p>
            <a:r>
              <a:t>• Robust and generalizable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E35544-8B55-8F82-10EF-CA30E44ACB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78FE60-7FB4-E576-C0BF-8E9525361C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9722" y="1657350"/>
            <a:ext cx="5972175" cy="3543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Clinical Decision Support</a:t>
            </a:r>
          </a:p>
          <a:p>
            <a:r>
              <a:t>• Health Apps</a:t>
            </a:r>
          </a:p>
          <a:p>
            <a:r>
              <a:t>• Public Health Policy</a:t>
            </a:r>
          </a:p>
          <a:p>
            <a:r>
              <a:t>• Personalized Healthcare</a:t>
            </a:r>
          </a:p>
          <a:p>
            <a:r>
              <a:t>• Corporate Wellness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07D87C-1A6C-9FF1-2BCE-4B89FD984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and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Validate with real data</a:t>
            </a:r>
          </a:p>
          <a:p>
            <a:r>
              <a:t>• Prevent overfitting</a:t>
            </a:r>
          </a:p>
          <a:p>
            <a:r>
              <a:t>• Add SHAP for explainability</a:t>
            </a:r>
          </a:p>
          <a:p>
            <a:r>
              <a:t>• Explore LightGBM, neural networks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3E58C-7A68-C5EC-75D7-6FC3670AC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dirty="0"/>
              <a:t>High-accuracy models and impactful insights.</a:t>
            </a:r>
          </a:p>
          <a:p>
            <a:r>
              <a:rPr dirty="0"/>
              <a:t>Supports public health and personalized care.</a:t>
            </a:r>
          </a:p>
          <a:p>
            <a:r>
              <a:rPr dirty="0"/>
              <a:t>Future-ready for research.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D3B490-D154-34CF-28A0-ACF3569717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13400"/>
            <a:ext cx="12192000" cy="1244600"/>
          </a:xfrm>
          <a:prstGeom prst="rect">
            <a:avLst/>
          </a:prstGeom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909</TotalTime>
  <Words>669</Words>
  <Application>Microsoft Macintosh PowerPoint</Application>
  <PresentationFormat>Widescreen</PresentationFormat>
  <Paragraphs>133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Bookman Old Style</vt:lpstr>
      <vt:lpstr>Rockwell</vt:lpstr>
      <vt:lpstr>Damask</vt:lpstr>
      <vt:lpstr>Obesity Prediction using Machine Learning</vt:lpstr>
      <vt:lpstr>Introduction</vt:lpstr>
      <vt:lpstr>Problem Statement</vt:lpstr>
      <vt:lpstr>Strategy</vt:lpstr>
      <vt:lpstr>Methodology: Data Exploration</vt:lpstr>
      <vt:lpstr>Data Summary</vt:lpstr>
      <vt:lpstr>Key Findings from EDA</vt:lpstr>
      <vt:lpstr>Features selected </vt:lpstr>
      <vt:lpstr>Feature EngIneering</vt:lpstr>
      <vt:lpstr>Take Aways</vt:lpstr>
      <vt:lpstr>Baseline Model: XGBoost</vt:lpstr>
      <vt:lpstr>Tuned XGBoost Model</vt:lpstr>
      <vt:lpstr>Random Forest Comparison</vt:lpstr>
      <vt:lpstr>Model Evaluation</vt:lpstr>
      <vt:lpstr>Visualizations</vt:lpstr>
      <vt:lpstr>Visualizations</vt:lpstr>
      <vt:lpstr>Results Summary</vt:lpstr>
      <vt:lpstr>Practical Applications</vt:lpstr>
      <vt:lpstr>Challenges and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JaiSaiBaba</dc:creator>
  <cp:keywords/>
  <dc:description>generated using python-pptx</dc:description>
  <cp:lastModifiedBy>Neha Pandey</cp:lastModifiedBy>
  <cp:revision>7</cp:revision>
  <dcterms:created xsi:type="dcterms:W3CDTF">2013-01-27T09:14:16Z</dcterms:created>
  <dcterms:modified xsi:type="dcterms:W3CDTF">2025-06-22T15:32:31Z</dcterms:modified>
  <cp:category/>
</cp:coreProperties>
</file>